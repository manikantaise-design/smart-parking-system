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0" r:id="rId6"/>
    <p:sldId id="266"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a:xfrm>
            <a:off x="5332412" y="5883275"/>
            <a:ext cx="4324044" cy="365125"/>
          </a:xfrm>
        </p:spPr>
        <p:txBody>
          <a:bodyPr/>
          <a:lstStyle/>
          <a:p>
            <a:endParaRPr lang="en-IN"/>
          </a:p>
        </p:txBody>
      </p:sp>
      <p:sp>
        <p:nvSpPr>
          <p:cNvPr id="6" name="Slide Number Placeholder 5"/>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825349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951856" y="5867131"/>
            <a:ext cx="551167" cy="365125"/>
          </a:xfrm>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862838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3423909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4CB8E6-A697-4E73-90A7-4E1C5F3FB23D}"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1745860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4CB8E6-A697-4E73-90A7-4E1C5F3FB23D}" type="datetimeFigureOut">
              <a:rPr lang="en-IN" smtClean="0"/>
              <a:t>18-01-2026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14904985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4CB8E6-A697-4E73-90A7-4E1C5F3FB23D}" type="datetimeFigureOut">
              <a:rPr lang="en-IN" smtClean="0"/>
              <a:t>18-01-2026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206215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4CB8E6-A697-4E73-90A7-4E1C5F3FB23D}" type="datetimeFigureOut">
              <a:rPr lang="en-IN" smtClean="0"/>
              <a:t>18-01-2026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2716044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4CB8E6-A697-4E73-90A7-4E1C5F3FB23D}"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2260146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4CB8E6-A697-4E73-90A7-4E1C5F3FB23D}"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174645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4CB8E6-A697-4E73-90A7-4E1C5F3FB23D}" type="datetimeFigureOut">
              <a:rPr lang="en-IN" smtClean="0"/>
              <a:t>18-01-2026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364709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2317541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40122647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6877766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35302499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20514657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2655671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4CB8E6-A697-4E73-90A7-4E1C5F3FB23D}" type="datetimeFigureOut">
              <a:rPr lang="en-IN" smtClean="0"/>
              <a:t>18-01-2026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FCF9E2-DCA7-4FDA-95F0-3146FF5B04F6}" type="slidenum">
              <a:rPr lang="en-IN" smtClean="0"/>
              <a:t>‹#›</a:t>
            </a:fld>
            <a:endParaRPr lang="en-IN"/>
          </a:p>
        </p:txBody>
      </p:sp>
    </p:spTree>
    <p:extLst>
      <p:ext uri="{BB962C8B-B14F-4D97-AF65-F5344CB8AC3E}">
        <p14:creationId xmlns:p14="http://schemas.microsoft.com/office/powerpoint/2010/main" val="1082248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D4CB8E6-A697-4E73-90A7-4E1C5F3FB23D}" type="datetimeFigureOut">
              <a:rPr lang="en-IN" smtClean="0"/>
              <a:t>18-01-2026</a:t>
            </a:fld>
            <a:endParaRPr lang="en-IN"/>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3FCF9E2-DCA7-4FDA-95F0-3146FF5B04F6}" type="slidenum">
              <a:rPr lang="en-IN" smtClean="0"/>
              <a:t>‹#›</a:t>
            </a:fld>
            <a:endParaRPr lang="en-IN"/>
          </a:p>
        </p:txBody>
      </p:sp>
    </p:spTree>
    <p:extLst>
      <p:ext uri="{BB962C8B-B14F-4D97-AF65-F5344CB8AC3E}">
        <p14:creationId xmlns:p14="http://schemas.microsoft.com/office/powerpoint/2010/main" val="276551132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C51FD-FE2A-37CC-5100-6FA4FA09E7BB}"/>
              </a:ext>
            </a:extLst>
          </p:cNvPr>
          <p:cNvSpPr>
            <a:spLocks noGrp="1"/>
          </p:cNvSpPr>
          <p:nvPr>
            <p:ph type="ctrTitle"/>
          </p:nvPr>
        </p:nvSpPr>
        <p:spPr>
          <a:xfrm>
            <a:off x="2928401" y="1897626"/>
            <a:ext cx="8574622" cy="1531374"/>
          </a:xfrm>
        </p:spPr>
        <p:txBody>
          <a:bodyPr>
            <a:normAutofit fontScale="90000"/>
          </a:bodyPr>
          <a:lstStyle/>
          <a:p>
            <a:r>
              <a:rPr lang="en-US" dirty="0"/>
              <a:t>SMART </a:t>
            </a:r>
            <a:r>
              <a:rPr lang="en-US" u="sng" dirty="0"/>
              <a:t>PARKING</a:t>
            </a:r>
            <a:r>
              <a:rPr lang="en-US" dirty="0"/>
              <a:t> SYSTEEM</a:t>
            </a:r>
            <a:br>
              <a:rPr lang="en-US" dirty="0"/>
            </a:br>
            <a:endParaRPr lang="en-IN" dirty="0"/>
          </a:p>
        </p:txBody>
      </p:sp>
      <p:sp>
        <p:nvSpPr>
          <p:cNvPr id="3" name="Subtitle 2">
            <a:extLst>
              <a:ext uri="{FF2B5EF4-FFF2-40B4-BE49-F238E27FC236}">
                <a16:creationId xmlns:a16="http://schemas.microsoft.com/office/drawing/2014/main" id="{CEC5C1D7-0636-ACEB-9A4E-225C5D872450}"/>
              </a:ext>
            </a:extLst>
          </p:cNvPr>
          <p:cNvSpPr>
            <a:spLocks noGrp="1"/>
          </p:cNvSpPr>
          <p:nvPr>
            <p:ph type="subTitle" idx="1"/>
          </p:nvPr>
        </p:nvSpPr>
        <p:spPr>
          <a:xfrm>
            <a:off x="4515378" y="3592596"/>
            <a:ext cx="6987645" cy="3171998"/>
          </a:xfrm>
        </p:spPr>
        <p:txBody>
          <a:bodyPr>
            <a:normAutofit/>
          </a:bodyPr>
          <a:lstStyle/>
          <a:p>
            <a:r>
              <a:rPr lang="en-US" dirty="0"/>
              <a:t>TEAM MEMBERS:</a:t>
            </a:r>
          </a:p>
          <a:p>
            <a:r>
              <a:rPr lang="en-US" dirty="0"/>
              <a:t>Lakki N, Manjunath Rathod, Kaushik P, Pratik </a:t>
            </a:r>
            <a:r>
              <a:rPr lang="en-US" dirty="0" err="1"/>
              <a:t>Medikinal</a:t>
            </a:r>
            <a:r>
              <a:rPr lang="en-US" dirty="0"/>
              <a:t>, Manikanta  </a:t>
            </a:r>
            <a:r>
              <a:rPr lang="en-US" dirty="0" err="1"/>
              <a:t>Askani</a:t>
            </a:r>
            <a:r>
              <a:rPr lang="en-US" dirty="0"/>
              <a:t> </a:t>
            </a:r>
          </a:p>
          <a:p>
            <a:endParaRPr lang="en-US" dirty="0"/>
          </a:p>
          <a:p>
            <a:r>
              <a:rPr lang="en-US" dirty="0"/>
              <a:t>Innovation and Design thinking laboratory</a:t>
            </a:r>
          </a:p>
          <a:p>
            <a:r>
              <a:rPr lang="en-US" dirty="0"/>
              <a:t>Department: ISE</a:t>
            </a:r>
          </a:p>
          <a:p>
            <a:r>
              <a:rPr lang="en-US" dirty="0"/>
              <a:t>Guide: Ms. Jayashree M</a:t>
            </a:r>
          </a:p>
          <a:p>
            <a:endParaRPr lang="en-US" dirty="0"/>
          </a:p>
          <a:p>
            <a:endParaRPr lang="en-US" dirty="0"/>
          </a:p>
          <a:p>
            <a:endParaRPr lang="en-US" dirty="0"/>
          </a:p>
          <a:p>
            <a:endParaRPr lang="en-US" dirty="0"/>
          </a:p>
          <a:p>
            <a:endParaRPr lang="en-US" dirty="0"/>
          </a:p>
        </p:txBody>
      </p:sp>
      <p:pic>
        <p:nvPicPr>
          <p:cNvPr id="5" name="Picture 4">
            <a:extLst>
              <a:ext uri="{FF2B5EF4-FFF2-40B4-BE49-F238E27FC236}">
                <a16:creationId xmlns:a16="http://schemas.microsoft.com/office/drawing/2014/main" id="{D920BAB8-E3A1-DEC5-1B56-631C85B1BB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0723" y="-1"/>
            <a:ext cx="2847561" cy="2015613"/>
          </a:xfrm>
          <a:prstGeom prst="rect">
            <a:avLst/>
          </a:prstGeom>
        </p:spPr>
      </p:pic>
    </p:spTree>
    <p:extLst>
      <p:ext uri="{BB962C8B-B14F-4D97-AF65-F5344CB8AC3E}">
        <p14:creationId xmlns:p14="http://schemas.microsoft.com/office/powerpoint/2010/main" val="3496861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59C63-5052-2A7E-FE9A-C560D3D086DF}"/>
              </a:ext>
            </a:extLst>
          </p:cNvPr>
          <p:cNvSpPr>
            <a:spLocks noGrp="1"/>
          </p:cNvSpPr>
          <p:nvPr>
            <p:ph type="title"/>
          </p:nvPr>
        </p:nvSpPr>
        <p:spPr/>
        <p:txBody>
          <a:bodyPr/>
          <a:lstStyle/>
          <a:p>
            <a:r>
              <a:rPr lang="en-US" dirty="0"/>
              <a:t>TABLE OF CONTENTS</a:t>
            </a:r>
            <a:endParaRPr lang="en-IN" dirty="0"/>
          </a:p>
        </p:txBody>
      </p:sp>
      <p:sp>
        <p:nvSpPr>
          <p:cNvPr id="3" name="Content Placeholder 2">
            <a:extLst>
              <a:ext uri="{FF2B5EF4-FFF2-40B4-BE49-F238E27FC236}">
                <a16:creationId xmlns:a16="http://schemas.microsoft.com/office/drawing/2014/main" id="{08779D2A-DB7D-C7C7-8D54-CBF7ED69BD4A}"/>
              </a:ext>
            </a:extLst>
          </p:cNvPr>
          <p:cNvSpPr>
            <a:spLocks noGrp="1"/>
          </p:cNvSpPr>
          <p:nvPr>
            <p:ph idx="1"/>
          </p:nvPr>
        </p:nvSpPr>
        <p:spPr/>
        <p:txBody>
          <a:bodyPr>
            <a:normAutofit fontScale="92500" lnSpcReduction="20000"/>
          </a:bodyPr>
          <a:lstStyle/>
          <a:p>
            <a:r>
              <a:rPr lang="en-US" dirty="0"/>
              <a:t>Introduction</a:t>
            </a:r>
          </a:p>
          <a:p>
            <a:r>
              <a:rPr lang="en-US" dirty="0"/>
              <a:t>Problem Definition</a:t>
            </a:r>
          </a:p>
          <a:p>
            <a:r>
              <a:rPr lang="en-US" dirty="0"/>
              <a:t>Design Thinking Process</a:t>
            </a:r>
          </a:p>
          <a:p>
            <a:r>
              <a:rPr lang="en-US" dirty="0"/>
              <a:t>Discovery and Empathy</a:t>
            </a:r>
          </a:p>
          <a:p>
            <a:r>
              <a:rPr lang="en-US" dirty="0"/>
              <a:t>Ideation and Conceptualization</a:t>
            </a:r>
          </a:p>
          <a:p>
            <a:r>
              <a:rPr lang="en-US" dirty="0"/>
              <a:t>Prototyping and technical development</a:t>
            </a:r>
          </a:p>
          <a:p>
            <a:r>
              <a:rPr lang="en-US" dirty="0"/>
              <a:t>Review and Documentation</a:t>
            </a:r>
          </a:p>
          <a:p>
            <a:pPr marL="457200" indent="-457200">
              <a:buFont typeface="+mj-lt"/>
              <a:buAutoNum type="arabicPeriod"/>
            </a:pPr>
            <a:endParaRPr lang="en-IN" dirty="0"/>
          </a:p>
        </p:txBody>
      </p:sp>
    </p:spTree>
    <p:extLst>
      <p:ext uri="{BB962C8B-B14F-4D97-AF65-F5344CB8AC3E}">
        <p14:creationId xmlns:p14="http://schemas.microsoft.com/office/powerpoint/2010/main" val="745891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FDBD6-A289-555B-70B3-69FFBF4F2593}"/>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68285596-CF52-1972-7FD4-575A121D8D49}"/>
              </a:ext>
            </a:extLst>
          </p:cNvPr>
          <p:cNvSpPr>
            <a:spLocks noGrp="1"/>
          </p:cNvSpPr>
          <p:nvPr>
            <p:ph idx="1"/>
          </p:nvPr>
        </p:nvSpPr>
        <p:spPr>
          <a:xfrm>
            <a:off x="1484310" y="2234380"/>
            <a:ext cx="10018713" cy="3124201"/>
          </a:xfrm>
        </p:spPr>
        <p:txBody>
          <a:bodyPr/>
          <a:lstStyle/>
          <a:p>
            <a:r>
              <a:rPr lang="en-US" dirty="0"/>
              <a:t>Due to the increasing number of vehicles, parking management has become a major problem in cities. A Smart Parking System helps in efficiently managing parking spaces by automatically detecting available and occupied slots using sensors and modern technology. This system reduces traffic congestion, saves time and fuel, and improves the overall parking experience.</a:t>
            </a:r>
            <a:endParaRPr lang="en-IN" dirty="0"/>
          </a:p>
        </p:txBody>
      </p:sp>
    </p:spTree>
    <p:extLst>
      <p:ext uri="{BB962C8B-B14F-4D97-AF65-F5344CB8AC3E}">
        <p14:creationId xmlns:p14="http://schemas.microsoft.com/office/powerpoint/2010/main" val="121339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9AA83-B2EA-20A1-06F3-4869D7506697}"/>
              </a:ext>
            </a:extLst>
          </p:cNvPr>
          <p:cNvSpPr>
            <a:spLocks noGrp="1"/>
          </p:cNvSpPr>
          <p:nvPr>
            <p:ph type="title"/>
          </p:nvPr>
        </p:nvSpPr>
        <p:spPr/>
        <p:txBody>
          <a:bodyPr/>
          <a:lstStyle/>
          <a:p>
            <a:r>
              <a:rPr lang="en-US" dirty="0"/>
              <a:t>PROBLEM DEFINITION</a:t>
            </a:r>
            <a:endParaRPr lang="en-IN" dirty="0"/>
          </a:p>
        </p:txBody>
      </p:sp>
      <p:sp>
        <p:nvSpPr>
          <p:cNvPr id="3" name="Content Placeholder 2">
            <a:extLst>
              <a:ext uri="{FF2B5EF4-FFF2-40B4-BE49-F238E27FC236}">
                <a16:creationId xmlns:a16="http://schemas.microsoft.com/office/drawing/2014/main" id="{6E24B551-D960-8F74-6BF2-A479297F9AAC}"/>
              </a:ext>
            </a:extLst>
          </p:cNvPr>
          <p:cNvSpPr>
            <a:spLocks noGrp="1"/>
          </p:cNvSpPr>
          <p:nvPr>
            <p:ph idx="1"/>
          </p:nvPr>
        </p:nvSpPr>
        <p:spPr>
          <a:xfrm>
            <a:off x="1484310" y="2332702"/>
            <a:ext cx="10018713" cy="3124201"/>
          </a:xfrm>
        </p:spPr>
        <p:txBody>
          <a:bodyPr/>
          <a:lstStyle/>
          <a:p>
            <a:r>
              <a:rPr lang="en-US" dirty="0"/>
              <a:t>In urban areas, the rapid increase in the number of vehicles has led to serious parking management issues. Traditional parking systems do not provide real-time information about available parking spaces, causing drivers to spend more time searching for parking. This results in traffic congestion, fuel wastage, increased pollution, and user inconvenience. Hence, there is a need for an automated and efficient system that can monitor parking slot availability in real time and provide accurate information to users to improve parking management.</a:t>
            </a:r>
            <a:endParaRPr lang="en-IN" dirty="0"/>
          </a:p>
        </p:txBody>
      </p:sp>
    </p:spTree>
    <p:extLst>
      <p:ext uri="{BB962C8B-B14F-4D97-AF65-F5344CB8AC3E}">
        <p14:creationId xmlns:p14="http://schemas.microsoft.com/office/powerpoint/2010/main" val="654578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32637-6296-F50C-DFB1-3CA760690F23}"/>
              </a:ext>
            </a:extLst>
          </p:cNvPr>
          <p:cNvSpPr>
            <a:spLocks noGrp="1"/>
          </p:cNvSpPr>
          <p:nvPr>
            <p:ph type="title"/>
          </p:nvPr>
        </p:nvSpPr>
        <p:spPr/>
        <p:txBody>
          <a:bodyPr/>
          <a:lstStyle/>
          <a:p>
            <a:r>
              <a:rPr lang="en-US" dirty="0"/>
              <a:t>DESIGN THINKING PROCESS</a:t>
            </a:r>
            <a:endParaRPr lang="en-IN" dirty="0"/>
          </a:p>
        </p:txBody>
      </p:sp>
      <p:sp>
        <p:nvSpPr>
          <p:cNvPr id="3" name="Content Placeholder 2">
            <a:extLst>
              <a:ext uri="{FF2B5EF4-FFF2-40B4-BE49-F238E27FC236}">
                <a16:creationId xmlns:a16="http://schemas.microsoft.com/office/drawing/2014/main" id="{6A673027-1AF0-7CB5-40D3-3BA1DB9BC2FC}"/>
              </a:ext>
            </a:extLst>
          </p:cNvPr>
          <p:cNvSpPr>
            <a:spLocks noGrp="1"/>
          </p:cNvSpPr>
          <p:nvPr>
            <p:ph idx="1"/>
          </p:nvPr>
        </p:nvSpPr>
        <p:spPr>
          <a:xfrm>
            <a:off x="1484310" y="2290917"/>
            <a:ext cx="10018713" cy="3500284"/>
          </a:xfrm>
        </p:spPr>
        <p:txBody>
          <a:bodyPr>
            <a:normAutofit lnSpcReduction="10000"/>
          </a:bodyPr>
          <a:lstStyle/>
          <a:p>
            <a:pPr marL="0" indent="0">
              <a:buNone/>
            </a:pPr>
            <a:r>
              <a:rPr lang="en-US" dirty="0"/>
              <a:t>The project follows the </a:t>
            </a:r>
            <a:r>
              <a:rPr lang="en-US" b="1" dirty="0"/>
              <a:t>Design Thinking approach</a:t>
            </a:r>
            <a:r>
              <a:rPr lang="en-US" dirty="0"/>
              <a:t>, which includes:</a:t>
            </a:r>
          </a:p>
          <a:p>
            <a:r>
              <a:rPr lang="en-US" dirty="0"/>
              <a:t>Discovery and Empathy</a:t>
            </a:r>
          </a:p>
          <a:p>
            <a:r>
              <a:rPr lang="en-US" dirty="0"/>
              <a:t>Problem Definition</a:t>
            </a:r>
          </a:p>
          <a:p>
            <a:r>
              <a:rPr lang="en-US" dirty="0"/>
              <a:t>Ideation and Conceptualization</a:t>
            </a:r>
          </a:p>
          <a:p>
            <a:r>
              <a:rPr lang="en-US" dirty="0"/>
              <a:t>Prototyping</a:t>
            </a:r>
          </a:p>
          <a:p>
            <a:r>
              <a:rPr lang="en-US" dirty="0"/>
              <a:t>Review and Documentation</a:t>
            </a:r>
          </a:p>
          <a:p>
            <a:pPr marL="0" indent="0">
              <a:buNone/>
            </a:pPr>
            <a:r>
              <a:rPr lang="en-US" dirty="0"/>
              <a:t>This approach helps in creating a user-centered and practical solution.</a:t>
            </a:r>
          </a:p>
          <a:p>
            <a:endParaRPr lang="en-IN" dirty="0"/>
          </a:p>
        </p:txBody>
      </p:sp>
    </p:spTree>
    <p:extLst>
      <p:ext uri="{BB962C8B-B14F-4D97-AF65-F5344CB8AC3E}">
        <p14:creationId xmlns:p14="http://schemas.microsoft.com/office/powerpoint/2010/main" val="1953393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4B465C-9713-9DEA-4BE3-054AAF866A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3265" y="707923"/>
            <a:ext cx="9124335" cy="5132439"/>
          </a:xfrm>
          <a:prstGeom prst="rect">
            <a:avLst/>
          </a:prstGeom>
        </p:spPr>
      </p:pic>
    </p:spTree>
    <p:extLst>
      <p:ext uri="{BB962C8B-B14F-4D97-AF65-F5344CB8AC3E}">
        <p14:creationId xmlns:p14="http://schemas.microsoft.com/office/powerpoint/2010/main" val="11898957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C47FE-0669-6B51-6EB4-4B5E4B5C7759}"/>
              </a:ext>
            </a:extLst>
          </p:cNvPr>
          <p:cNvSpPr>
            <a:spLocks noGrp="1"/>
          </p:cNvSpPr>
          <p:nvPr>
            <p:ph type="title"/>
          </p:nvPr>
        </p:nvSpPr>
        <p:spPr/>
        <p:txBody>
          <a:bodyPr/>
          <a:lstStyle/>
          <a:p>
            <a:r>
              <a:rPr lang="en-US" dirty="0"/>
              <a:t>DISCOVERY AND EMPATHY</a:t>
            </a:r>
            <a:endParaRPr lang="en-IN" dirty="0"/>
          </a:p>
        </p:txBody>
      </p:sp>
      <p:sp>
        <p:nvSpPr>
          <p:cNvPr id="3" name="Content Placeholder 2">
            <a:extLst>
              <a:ext uri="{FF2B5EF4-FFF2-40B4-BE49-F238E27FC236}">
                <a16:creationId xmlns:a16="http://schemas.microsoft.com/office/drawing/2014/main" id="{61D99394-2BB2-79A6-381F-86FB198889A3}"/>
              </a:ext>
            </a:extLst>
          </p:cNvPr>
          <p:cNvSpPr>
            <a:spLocks noGrp="1"/>
          </p:cNvSpPr>
          <p:nvPr>
            <p:ph idx="1"/>
          </p:nvPr>
        </p:nvSpPr>
        <p:spPr>
          <a:xfrm>
            <a:off x="1385986" y="2438399"/>
            <a:ext cx="10018713" cy="3124201"/>
          </a:xfrm>
        </p:spPr>
        <p:txBody>
          <a:bodyPr/>
          <a:lstStyle/>
          <a:p>
            <a:r>
              <a:rPr lang="en-US" dirty="0"/>
              <a:t>Through observation and interaction with vehicle users and parking managers, it was identified that finding an available parking space is time-consuming and frustrating, especially in crowded areas. Users often face problems such as lack of real-time parking information, traffic congestion, and fuel wastage. Parking operators also struggle with inefficient space utilization and manual monitoring. Understanding these user difficulties helped in identifying the need for a smart, automated parking system that provides real-time parking availability and improves user convenience.</a:t>
            </a:r>
            <a:endParaRPr lang="en-IN" dirty="0"/>
          </a:p>
        </p:txBody>
      </p:sp>
    </p:spTree>
    <p:extLst>
      <p:ext uri="{BB962C8B-B14F-4D97-AF65-F5344CB8AC3E}">
        <p14:creationId xmlns:p14="http://schemas.microsoft.com/office/powerpoint/2010/main" val="14008707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1BB76-7D9F-2DAA-864A-43D6827B1565}"/>
              </a:ext>
            </a:extLst>
          </p:cNvPr>
          <p:cNvSpPr>
            <a:spLocks noGrp="1"/>
          </p:cNvSpPr>
          <p:nvPr>
            <p:ph type="title"/>
          </p:nvPr>
        </p:nvSpPr>
        <p:spPr/>
        <p:txBody>
          <a:bodyPr/>
          <a:lstStyle/>
          <a:p>
            <a:r>
              <a:rPr lang="en-US" dirty="0"/>
              <a:t>IDEATION AND CONCEPTUALIZATION</a:t>
            </a:r>
            <a:endParaRPr lang="en-IN" dirty="0"/>
          </a:p>
        </p:txBody>
      </p:sp>
      <p:sp>
        <p:nvSpPr>
          <p:cNvPr id="3" name="Content Placeholder 2">
            <a:extLst>
              <a:ext uri="{FF2B5EF4-FFF2-40B4-BE49-F238E27FC236}">
                <a16:creationId xmlns:a16="http://schemas.microsoft.com/office/drawing/2014/main" id="{4AC51A82-9FB2-7465-3C22-A46C07339B0A}"/>
              </a:ext>
            </a:extLst>
          </p:cNvPr>
          <p:cNvSpPr>
            <a:spLocks noGrp="1"/>
          </p:cNvSpPr>
          <p:nvPr>
            <p:ph idx="1"/>
          </p:nvPr>
        </p:nvSpPr>
        <p:spPr>
          <a:xfrm>
            <a:off x="1484310" y="2438399"/>
            <a:ext cx="10018713" cy="3124201"/>
          </a:xfrm>
        </p:spPr>
        <p:txBody>
          <a:bodyPr/>
          <a:lstStyle/>
          <a:p>
            <a:r>
              <a:rPr lang="en-US" dirty="0"/>
              <a:t>Based on user needs, multiple ideas were brainstormed such as manual parking guidance, display boards, and mobile-based parking information. The final concept selected was a </a:t>
            </a:r>
            <a:r>
              <a:rPr lang="en-US" b="1" u="sng" dirty="0"/>
              <a:t>smart parking system </a:t>
            </a:r>
            <a:r>
              <a:rPr lang="en-US" dirty="0"/>
              <a:t>that uses sensors to detect parking slot availability in real time and displays the information to users, enabling efficient parking and reducing congestion.</a:t>
            </a:r>
            <a:endParaRPr lang="en-IN" dirty="0"/>
          </a:p>
        </p:txBody>
      </p:sp>
    </p:spTree>
    <p:extLst>
      <p:ext uri="{BB962C8B-B14F-4D97-AF65-F5344CB8AC3E}">
        <p14:creationId xmlns:p14="http://schemas.microsoft.com/office/powerpoint/2010/main" val="3879976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CF55C-2783-8D41-999E-54CA9DFA9FD3}"/>
              </a:ext>
            </a:extLst>
          </p:cNvPr>
          <p:cNvSpPr>
            <a:spLocks noGrp="1"/>
          </p:cNvSpPr>
          <p:nvPr>
            <p:ph type="title"/>
          </p:nvPr>
        </p:nvSpPr>
        <p:spPr/>
        <p:txBody>
          <a:bodyPr/>
          <a:lstStyle/>
          <a:p>
            <a:r>
              <a:rPr lang="en-US" dirty="0"/>
              <a:t>PROTOTYPING AND TECHNICAL DEVELOPMENT</a:t>
            </a:r>
            <a:endParaRPr lang="en-IN" dirty="0"/>
          </a:p>
        </p:txBody>
      </p:sp>
      <p:sp>
        <p:nvSpPr>
          <p:cNvPr id="3" name="Content Placeholder 2">
            <a:extLst>
              <a:ext uri="{FF2B5EF4-FFF2-40B4-BE49-F238E27FC236}">
                <a16:creationId xmlns:a16="http://schemas.microsoft.com/office/drawing/2014/main" id="{8CE09072-3434-EAF6-0A08-74061B2D7CB5}"/>
              </a:ext>
            </a:extLst>
          </p:cNvPr>
          <p:cNvSpPr>
            <a:spLocks noGrp="1"/>
          </p:cNvSpPr>
          <p:nvPr>
            <p:ph idx="1"/>
          </p:nvPr>
        </p:nvSpPr>
        <p:spPr>
          <a:xfrm>
            <a:off x="1484310" y="2293373"/>
            <a:ext cx="10018713" cy="3124201"/>
          </a:xfrm>
        </p:spPr>
        <p:txBody>
          <a:bodyPr/>
          <a:lstStyle/>
          <a:p>
            <a:r>
              <a:rPr lang="en-US" b="1" dirty="0"/>
              <a:t>Prototype Development &amp; Iteration:</a:t>
            </a:r>
            <a:r>
              <a:rPr lang="en-US" dirty="0"/>
              <a:t> Developing a functional prototype of the smart parking system using sensors and LCD display, and improving the design based on testing and performance results.</a:t>
            </a:r>
          </a:p>
          <a:p>
            <a:r>
              <a:rPr lang="en-US" b="1" dirty="0"/>
              <a:t>Teamwork:</a:t>
            </a:r>
            <a:r>
              <a:rPr lang="en-US" dirty="0"/>
              <a:t> Collaborating on different aspects of the project such as sensor integration, Arduino IDE programming, and system setup to ensure accurate parking slot detection and display.</a:t>
            </a:r>
          </a:p>
        </p:txBody>
      </p:sp>
    </p:spTree>
    <p:extLst>
      <p:ext uri="{BB962C8B-B14F-4D97-AF65-F5344CB8AC3E}">
        <p14:creationId xmlns:p14="http://schemas.microsoft.com/office/powerpoint/2010/main" val="21895333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B0D19-5AA7-63FC-DE98-B48097AF94E1}"/>
              </a:ext>
            </a:extLst>
          </p:cNvPr>
          <p:cNvSpPr>
            <a:spLocks noGrp="1"/>
          </p:cNvSpPr>
          <p:nvPr>
            <p:ph type="title"/>
          </p:nvPr>
        </p:nvSpPr>
        <p:spPr/>
        <p:txBody>
          <a:bodyPr/>
          <a:lstStyle/>
          <a:p>
            <a:r>
              <a:rPr lang="en-US" dirty="0"/>
              <a:t>REVIEW AND DOCUMENTATION</a:t>
            </a:r>
            <a:endParaRPr lang="en-IN" dirty="0"/>
          </a:p>
        </p:txBody>
      </p:sp>
      <p:sp>
        <p:nvSpPr>
          <p:cNvPr id="3" name="Content Placeholder 2">
            <a:extLst>
              <a:ext uri="{FF2B5EF4-FFF2-40B4-BE49-F238E27FC236}">
                <a16:creationId xmlns:a16="http://schemas.microsoft.com/office/drawing/2014/main" id="{5E37FBC3-4FB0-5D12-E170-E1F1E24CD248}"/>
              </a:ext>
            </a:extLst>
          </p:cNvPr>
          <p:cNvSpPr>
            <a:spLocks noGrp="1"/>
          </p:cNvSpPr>
          <p:nvPr>
            <p:ph idx="1"/>
          </p:nvPr>
        </p:nvSpPr>
        <p:spPr>
          <a:xfrm>
            <a:off x="1484311" y="2438399"/>
            <a:ext cx="10018713" cy="3124201"/>
          </a:xfrm>
        </p:spPr>
        <p:txBody>
          <a:bodyPr/>
          <a:lstStyle/>
          <a:p>
            <a:r>
              <a:rPr lang="en-US" b="1" dirty="0"/>
              <a:t>Review:</a:t>
            </a:r>
            <a:r>
              <a:rPr lang="en-US" dirty="0"/>
              <a:t> Regularly evaluating the system performance, sensor accuracy, and overall functionality to identify improvements and ensure reliable operation.</a:t>
            </a:r>
          </a:p>
          <a:p>
            <a:r>
              <a:rPr lang="en-US" b="1" dirty="0"/>
              <a:t>Documentation:</a:t>
            </a:r>
            <a:r>
              <a:rPr lang="en-US" dirty="0"/>
              <a:t> Recording all project details including system design, block diagrams, circuit connections, algorithms, and user guidelines in the final report.</a:t>
            </a:r>
          </a:p>
        </p:txBody>
      </p:sp>
    </p:spTree>
    <p:extLst>
      <p:ext uri="{BB962C8B-B14F-4D97-AF65-F5344CB8AC3E}">
        <p14:creationId xmlns:p14="http://schemas.microsoft.com/office/powerpoint/2010/main" val="38846441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56</TotalTime>
  <Words>513</Words>
  <Application>Microsoft Office PowerPoint</Application>
  <PresentationFormat>Widescreen</PresentationFormat>
  <Paragraphs>40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Corbel</vt:lpstr>
      <vt:lpstr>Parallax</vt:lpstr>
      <vt:lpstr>SMART PARKING SYSTEEM </vt:lpstr>
      <vt:lpstr>TABLE OF CONTENTS</vt:lpstr>
      <vt:lpstr>INTRODUCTION</vt:lpstr>
      <vt:lpstr>PROBLEM DEFINITION</vt:lpstr>
      <vt:lpstr>DESIGN THINKING PROCESS</vt:lpstr>
      <vt:lpstr>PowerPoint Presentation</vt:lpstr>
      <vt:lpstr>DISCOVERY AND EMPATHY</vt:lpstr>
      <vt:lpstr>IDEATION AND CONCEPTUALIZATION</vt:lpstr>
      <vt:lpstr>PROTOTYPING AND TECHNICAL DEVELOPMENT</vt:lpstr>
      <vt:lpstr>REVIEW AND DOCUMENTATION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koushik reddy</dc:creator>
  <cp:lastModifiedBy>lakki N</cp:lastModifiedBy>
  <cp:revision>2</cp:revision>
  <dcterms:created xsi:type="dcterms:W3CDTF">2026-01-16T03:46:11Z</dcterms:created>
  <dcterms:modified xsi:type="dcterms:W3CDTF">2026-01-18T09:36:00Z</dcterms:modified>
</cp:coreProperties>
</file>